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6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EE45C-7907-4906-A7E6-FDBD793F8A5D}" v="5" dt="2026-10-07T10:15:59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ndra naidu" userId="7eb1f32f48cc5f28" providerId="LiveId" clId="{D968A3CB-0978-4258-9EED-CDD0F54D81AA}"/>
    <pc:docChg chg="undo custSel modSld">
      <pc:chgData name="devendra naidu" userId="7eb1f32f48cc5f28" providerId="LiveId" clId="{D968A3CB-0978-4258-9EED-CDD0F54D81AA}" dt="2026-10-07T11:45:39.797" v="15" actId="2162"/>
      <pc:docMkLst>
        <pc:docMk/>
      </pc:docMkLst>
      <pc:sldChg chg="addSp delSp modSp mod">
        <pc:chgData name="devendra naidu" userId="7eb1f32f48cc5f28" providerId="LiveId" clId="{D968A3CB-0978-4258-9EED-CDD0F54D81AA}" dt="2026-10-07T10:16:02.215" v="5" actId="478"/>
        <pc:sldMkLst>
          <pc:docMk/>
          <pc:sldMk cId="815096268" sldId="261"/>
        </pc:sldMkLst>
        <pc:spChg chg="add del mod">
          <ac:chgData name="devendra naidu" userId="7eb1f32f48cc5f28" providerId="LiveId" clId="{D968A3CB-0978-4258-9EED-CDD0F54D81AA}" dt="2026-10-07T10:16:02.215" v="5" actId="478"/>
          <ac:spMkLst>
            <pc:docMk/>
            <pc:sldMk cId="815096268" sldId="261"/>
            <ac:spMk id="7" creationId="{D243C6AB-4AE6-C415-D66A-7B03F0F2CD72}"/>
          </ac:spMkLst>
        </pc:spChg>
      </pc:sldChg>
      <pc:sldChg chg="modTransition">
        <pc:chgData name="devendra naidu" userId="7eb1f32f48cc5f28" providerId="LiveId" clId="{D968A3CB-0978-4258-9EED-CDD0F54D81AA}" dt="2026-10-07T10:03:30.280" v="1"/>
        <pc:sldMkLst>
          <pc:docMk/>
          <pc:sldMk cId="3445944826" sldId="263"/>
        </pc:sldMkLst>
      </pc:sldChg>
      <pc:sldChg chg="modSp mod modTransition">
        <pc:chgData name="devendra naidu" userId="7eb1f32f48cc5f28" providerId="LiveId" clId="{D968A3CB-0978-4258-9EED-CDD0F54D81AA}" dt="2026-10-07T11:45:39.797" v="15" actId="2162"/>
        <pc:sldMkLst>
          <pc:docMk/>
          <pc:sldMk cId="391000871" sldId="267"/>
        </pc:sldMkLst>
        <pc:graphicFrameChg chg="modGraphic">
          <ac:chgData name="devendra naidu" userId="7eb1f32f48cc5f28" providerId="LiveId" clId="{D968A3CB-0978-4258-9EED-CDD0F54D81AA}" dt="2026-10-07T11:45:39.797" v="15" actId="2162"/>
          <ac:graphicFrameMkLst>
            <pc:docMk/>
            <pc:sldMk cId="391000871" sldId="267"/>
            <ac:graphicFrameMk id="10" creationId="{203B2178-7399-16E5-FE4C-46949F6FFE1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9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31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2758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3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07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78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2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8526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8933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17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366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97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62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83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tweet-sentiment-analysis-using-nlpgit-wmatjmdzndds6undgnvfg9.streamlit.app/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3C3F-1715-0679-ACD6-5FEA41C7D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2960" y="2412490"/>
            <a:ext cx="9144000" cy="1464401"/>
          </a:xfrm>
        </p:spPr>
        <p:txBody>
          <a:bodyPr wrap="square"/>
          <a:lstStyle/>
          <a:p>
            <a:r>
              <a:rPr b="1" dirty="0">
                <a:solidFill>
                  <a:srgbClr val="FFFFFF"/>
                </a:solidFill>
                <a:latin typeface="Bahnschrift SemiCondensed" panose="020B0502040204020203" pitchFamily="34" charset="0"/>
              </a:rPr>
              <a:t>Tweet Sentiment Analysis Using </a:t>
            </a:r>
            <a:br>
              <a:rPr lang="en-IN" b="1" dirty="0">
                <a:solidFill>
                  <a:srgbClr val="FFFFFF"/>
                </a:solidFill>
                <a:latin typeface="Bahnschrift SemiCondensed" panose="020B0502040204020203" pitchFamily="34" charset="0"/>
              </a:rPr>
            </a:br>
            <a:r>
              <a:rPr b="1" dirty="0">
                <a:solidFill>
                  <a:srgbClr val="FFFFFF"/>
                </a:solidFill>
                <a:latin typeface="Bahnschrift SemiCondensed" panose="020B0502040204020203" pitchFamily="34" charset="0"/>
              </a:rPr>
              <a:t>Deep Learning</a:t>
            </a:r>
            <a:endParaRPr lang="en-IN" sz="5000" dirty="0">
              <a:latin typeface="Bahnschrift SemiCondensed" panose="020B0502040204020203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921795" y="5857240"/>
            <a:ext cx="203200" cy="2032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398760" y="6195060"/>
            <a:ext cx="127000" cy="1270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76731" y="5729224"/>
            <a:ext cx="88900" cy="889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8029EB-C654-12C9-B048-31C242246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9283" y1="69689" x2="18568" y2="69799"/>
                        <a14:foregroundMark x1="21477" y1="69351" x2="21222" y2="69390"/>
                        <a14:foregroundMark x1="34452" y1="65772" x2="33333" y2="66667"/>
                        <a14:foregroundMark x1="34228" y1="65772" x2="32662" y2="66667"/>
                        <a14:backgroundMark x1="22819" y1="27293" x2="37360" y2="48322"/>
                        <a14:backgroundMark x1="37360" y1="48322" x2="46532" y2="55034"/>
                        <a14:backgroundMark x1="46532" y1="55034" x2="57718" y2="56600"/>
                        <a14:backgroundMark x1="57718" y1="56600" x2="54810" y2="36689"/>
                        <a14:backgroundMark x1="54810" y1="36689" x2="53468" y2="39821"/>
                        <a14:backgroundMark x1="48098" y1="50112" x2="48322" y2="51902"/>
                        <a14:backgroundMark x1="19239" y1="40045" x2="21477" y2="40940"/>
                        <a14:backgroundMark x1="23714" y1="53691" x2="24609" y2="54139"/>
                        <a14:backgroundMark x1="30649" y1="65772" x2="31491" y2="65435"/>
                        <a14:backgroundMark x1="81879" y1="28188" x2="79195" y2="29530"/>
                        <a14:backgroundMark x1="80089" y1="31767" x2="80984" y2="31096"/>
                        <a14:backgroundMark x1="46085" y1="37136" x2="47427" y2="38255"/>
                        <a14:backgroundMark x1="30649" y1="65324" x2="31559" y2="65506"/>
                        <a14:backgroundMark x1="19016" y1="70022" x2="20358" y2="70470"/>
                        <a14:backgroundMark x1="31544" y1="65548" x2="32438" y2="65548"/>
                      </a14:backgroundRemoval>
                    </a14:imgEffect>
                    <a14:imgEffect>
                      <a14:artisticMarker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15445" y="2330195"/>
            <a:ext cx="2457609" cy="24576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68756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48148E-6 C 0.0638 -0.06227 0.11432 -0.19745 0.17851 -0.25509 C 0.21758 -0.28981 0.25625 -0.30347 0.33958 -0.31551 C 0.42851 -0.32847 0.51875 -0.33287 0.67734 -0.37245 C 0.7776 -0.39768 0.8332 -0.43866 0.89765 -0.38079 " pathEditMode="relative" rAng="0" ptsTypes="AAAAA">
                                      <p:cBhvr>
                                        <p:cTn id="11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883" y="-20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2024787"/>
            <a:ext cx="11125200" cy="2300425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A80F13-FDD6-9491-293C-7D9629899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872939"/>
            <a:ext cx="10515600" cy="1325563"/>
          </a:xfrm>
        </p:spPr>
        <p:txBody>
          <a:bodyPr wrap="square"/>
          <a:lstStyle/>
          <a:p>
            <a:pPr algn="l"/>
            <a:r>
              <a:rPr b="1" dirty="0">
                <a:solidFill>
                  <a:srgbClr val="0F172A"/>
                </a:solidFill>
                <a:latin typeface="Aptos"/>
              </a:rPr>
              <a:t>Problem Statement</a:t>
            </a:r>
            <a:endParaRPr lang="en-IN" b="1" dirty="0">
              <a:latin typeface="Aptos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A1374-B00D-AAD9-1F66-E6304F8F04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44914"/>
            <a:ext cx="10363826" cy="3424107"/>
          </a:xfrm>
        </p:spPr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We all know People Tweet opinions about products, services, and events.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So, millions of tweets are posted every day, making it difficult to understand people’s opinions manually.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objective is to build a deep-learning NLP system that automatically classifies tweets into Positive, Negative, Neutral, or Irrelevant sentiment.</a:t>
            </a:r>
          </a:p>
          <a:p>
            <a:pPr marL="0" indent="0">
              <a:buNone/>
            </a:pPr>
            <a:endParaRPr lang="en-IN" sz="1800" b="0" dirty="0">
              <a:solidFill>
                <a:srgbClr val="161618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3872981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533087" y="848264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4AAE6-0317-FBD5-C939-32BD2C0A7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1036688"/>
            <a:ext cx="10365077" cy="1220115"/>
          </a:xfrm>
        </p:spPr>
        <p:txBody>
          <a:bodyPr wrap="square">
            <a:normAutofit/>
          </a:bodyPr>
          <a:lstStyle/>
          <a:p>
            <a:r>
              <a:rPr lang="en-IN" sz="4000" b="1" dirty="0">
                <a:solidFill>
                  <a:srgbClr val="0F172A"/>
                </a:solidFill>
                <a:latin typeface="Aptos"/>
              </a:rPr>
              <a:t>Data Insight</a:t>
            </a:r>
            <a:r>
              <a:rPr lang="en-IN" sz="4000" b="1" dirty="0">
                <a:solidFill>
                  <a:srgbClr val="0F172A"/>
                </a:solidFill>
              </a:rPr>
              <a:t>s</a:t>
            </a:r>
            <a:endParaRPr sz="4000" b="1" dirty="0">
              <a:solidFill>
                <a:srgbClr val="0F172A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9640BE-7BA2-C4A3-8F68-ED784C20BA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9" y="2190859"/>
            <a:ext cx="10365077" cy="2586881"/>
          </a:xfrm>
        </p:spPr>
        <p:txBody>
          <a:bodyPr wrap="square"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Dataset contains 74,682 tweet records with tweet (text) and sentiment labels.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Four sentiment classes:  Positive, Negative, Neutral, Irrelevant.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Aptos"/>
              </a:rPr>
              <a:t>The dataset contains short and informal tweets, with noisy elements such as emojis, punctuation, URLs, and repeated words.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Negative is the largest class (30.47%), followed by Positive (27.43%), Neutral (24.52%), and Irrelevant (17.58%).</a:t>
            </a:r>
            <a:endParaRPr sz="2000" b="0" dirty="0">
              <a:solidFill>
                <a:srgbClr val="161618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353270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899319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29776-1F43-B4D6-C615-F24A4EBB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681"/>
            <a:ext cx="10515600" cy="1325563"/>
          </a:xfrm>
        </p:spPr>
        <p:txBody>
          <a:bodyPr wrap="square">
            <a:normAutofit/>
          </a:bodyPr>
          <a:lstStyle/>
          <a:p>
            <a:pPr algn="l"/>
            <a:r>
              <a:rPr sz="4000" b="1" dirty="0">
                <a:solidFill>
                  <a:srgbClr val="0F172A"/>
                </a:solidFill>
                <a:latin typeface="Aptos Display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3B3D-764B-F595-5E19-9A240D775C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65441"/>
            <a:ext cx="10236200" cy="3207599"/>
          </a:xfrm>
        </p:spPr>
        <p:txBody>
          <a:bodyPr wrap="square"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Data cleaning findings from EDA: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686 missing </a:t>
            </a:r>
            <a:r>
              <a:rPr sz="2000" b="0" dirty="0" err="1">
                <a:solidFill>
                  <a:srgbClr val="161618"/>
                </a:solidFill>
                <a:latin typeface="Aptos"/>
              </a:rPr>
              <a:t>raw_text</a:t>
            </a:r>
            <a:r>
              <a:rPr sz="2000" b="0" dirty="0">
                <a:solidFill>
                  <a:srgbClr val="161618"/>
                </a:solidFill>
                <a:latin typeface="Aptos"/>
              </a:rPr>
              <a:t> values were removed.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4,229 fully duplicated rows were removed.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37 empty records remained after initial cleaning and were removed.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865 tweets contained emojis; URLs/mentions/HTML and repeated punctuation were normalized.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Average cleaned tweet length ≈ 20.1 words; maximum observed = 198 words.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Frequent phrases include “red dead”, “call duty”, “league legends”, and “</a:t>
            </a:r>
            <a:r>
              <a:rPr sz="2000" b="0" dirty="0" err="1">
                <a:solidFill>
                  <a:srgbClr val="161618"/>
                </a:solidFill>
                <a:latin typeface="Aptos"/>
              </a:rPr>
              <a:t>xbox</a:t>
            </a:r>
            <a:r>
              <a:rPr sz="2000" b="0" dirty="0">
                <a:solidFill>
                  <a:srgbClr val="161618"/>
                </a:solidFill>
                <a:latin typeface="Aptos"/>
              </a:rPr>
              <a:t> series”.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0848097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887398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5F6EE-4C29-7594-7BDF-3933AB06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6" y="897558"/>
            <a:ext cx="10364451" cy="1596177"/>
          </a:xfrm>
        </p:spPr>
        <p:txBody>
          <a:bodyPr wrap="square">
            <a:normAutofit/>
          </a:bodyPr>
          <a:lstStyle/>
          <a:p>
            <a:pPr algn="l"/>
            <a:r>
              <a:rPr sz="4000" b="1" dirty="0">
                <a:solidFill>
                  <a:srgbClr val="0F172A"/>
                </a:solidFill>
                <a:latin typeface="Aptos Display"/>
              </a:rPr>
              <a:t>Text 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DF80-581B-D220-2688-BBD7BDBEF8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147" y="2505915"/>
            <a:ext cx="10364450" cy="2188005"/>
          </a:xfrm>
        </p:spPr>
        <p:txBody>
          <a:bodyPr wrap="square"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sz="2000" b="0" dirty="0">
                <a:solidFill>
                  <a:srgbClr val="161618"/>
                </a:solidFill>
                <a:latin typeface="Aptos"/>
              </a:rPr>
              <a:t>Raw tweet → URL / mention / HTML removal → hashtag normalization → emoji </a:t>
            </a:r>
            <a:r>
              <a:rPr sz="2000" b="0" dirty="0" err="1">
                <a:solidFill>
                  <a:srgbClr val="161618"/>
                </a:solidFill>
                <a:latin typeface="Aptos"/>
              </a:rPr>
              <a:t>demojize</a:t>
            </a:r>
            <a:r>
              <a:rPr sz="2000" b="0" dirty="0">
                <a:solidFill>
                  <a:srgbClr val="161618"/>
                </a:solidFill>
                <a:latin typeface="Aptos"/>
              </a:rPr>
              <a:t> → lowercase </a:t>
            </a:r>
            <a:r>
              <a:rPr sz="2000" b="1" dirty="0">
                <a:solidFill>
                  <a:srgbClr val="161618"/>
                </a:solidFill>
                <a:latin typeface="Aptos"/>
              </a:rPr>
              <a:t>→</a:t>
            </a:r>
            <a:r>
              <a:rPr sz="2000" b="0" dirty="0">
                <a:solidFill>
                  <a:srgbClr val="161618"/>
                </a:solidFill>
                <a:latin typeface="Aptos"/>
              </a:rPr>
              <a:t> contraction expansion → punctuation cleanup → tokenization → padding → embedding </a:t>
            </a:r>
            <a:r>
              <a:rPr sz="2000" b="1" dirty="0">
                <a:solidFill>
                  <a:srgbClr val="161618"/>
                </a:solidFill>
                <a:latin typeface="Aptos"/>
              </a:rPr>
              <a:t>→</a:t>
            </a:r>
            <a:r>
              <a:rPr sz="2000" b="0" dirty="0">
                <a:solidFill>
                  <a:srgbClr val="16161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161618"/>
                </a:solidFill>
                <a:latin typeface="Aptos"/>
              </a:rPr>
              <a:t>BiLSTM</a:t>
            </a:r>
            <a:endParaRPr sz="2000" b="0" dirty="0">
              <a:solidFill>
                <a:srgbClr val="161618"/>
              </a:solidFill>
              <a:latin typeface="Aptos"/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sz="2000" b="1" dirty="0" err="1">
                <a:solidFill>
                  <a:srgbClr val="161618"/>
                </a:solidFill>
                <a:latin typeface="Aptos"/>
              </a:rPr>
              <a:t>Stopwords</a:t>
            </a:r>
            <a:r>
              <a:rPr sz="2000" b="1" dirty="0">
                <a:solidFill>
                  <a:srgbClr val="161618"/>
                </a:solidFill>
                <a:latin typeface="Aptos"/>
              </a:rPr>
              <a:t> were intentionally retained because negation and contextual words can carry sentiment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8154505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907734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AE751-C6C4-2F36-F116-A823FDF1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2" y="907734"/>
            <a:ext cx="10364451" cy="1596177"/>
          </a:xfrm>
        </p:spPr>
        <p:txBody>
          <a:bodyPr wrap="square">
            <a:normAutofit/>
          </a:bodyPr>
          <a:lstStyle/>
          <a:p>
            <a:r>
              <a:rPr sz="4000" b="1" dirty="0">
                <a:solidFill>
                  <a:srgbClr val="0F172A"/>
                </a:solidFill>
                <a:latin typeface="Aptos Display"/>
              </a:rPr>
              <a:t>Deep Learning Model &amp;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5D56-34AF-724A-63EC-D63A302B00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1" y="2308451"/>
            <a:ext cx="10364451" cy="2444298"/>
          </a:xfrm>
        </p:spPr>
        <p:txBody>
          <a:bodyPr wrap="square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IN" sz="2000" dirty="0">
                <a:latin typeface="Aptos" panose="020B0004020202020204" pitchFamily="34" charset="0"/>
              </a:rPr>
              <a:t>Converted text into numerical vectors using word embeddings.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>
                <a:latin typeface="Aptos" panose="020B0004020202020204" pitchFamily="34" charset="0"/>
              </a:rPr>
              <a:t>Tested LSTM, GRU, and </a:t>
            </a:r>
            <a:r>
              <a:rPr lang="en-IN" sz="2000" dirty="0" err="1">
                <a:latin typeface="Aptos" panose="020B0004020202020204" pitchFamily="34" charset="0"/>
              </a:rPr>
              <a:t>BiLSTM</a:t>
            </a:r>
            <a:r>
              <a:rPr lang="en-IN" sz="2000" dirty="0">
                <a:latin typeface="Aptos" panose="020B0004020202020204" pitchFamily="34" charset="0"/>
              </a:rPr>
              <a:t> architectures.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>
                <a:latin typeface="Aptos" panose="020B0004020202020204" pitchFamily="34" charset="0"/>
              </a:rPr>
              <a:t>Used Fast Text to capture word and </a:t>
            </a:r>
            <a:r>
              <a:rPr lang="en-IN" sz="2000" dirty="0" err="1">
                <a:latin typeface="Aptos" panose="020B0004020202020204" pitchFamily="34" charset="0"/>
              </a:rPr>
              <a:t>subword</a:t>
            </a:r>
            <a:r>
              <a:rPr lang="en-IN" sz="2000" dirty="0">
                <a:latin typeface="Aptos" panose="020B0004020202020204" pitchFamily="34" charset="0"/>
              </a:rPr>
              <a:t>-level information.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 err="1">
                <a:latin typeface="Aptos" panose="020B0004020202020204" pitchFamily="34" charset="0"/>
              </a:rPr>
              <a:t>BiLSTM</a:t>
            </a:r>
            <a:r>
              <a:rPr lang="en-IN" sz="2000" dirty="0">
                <a:latin typeface="Aptos" panose="020B0004020202020204" pitchFamily="34" charset="0"/>
              </a:rPr>
              <a:t> captures contextual information from both directions.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>
                <a:latin typeface="Aptos" panose="020B0004020202020204" pitchFamily="34" charset="0"/>
              </a:rPr>
              <a:t>Used Dropout and Early Stopping to reduce overfitting.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IN" sz="2000" dirty="0">
                <a:latin typeface="Aptos" panose="020B0004020202020204" pitchFamily="34" charset="0"/>
              </a:rPr>
              <a:t>Classified tweets into Positive, Negative, Neutral, and Irrelevant.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150962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81DD-FB87-0006-4338-A860D310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51" y="713743"/>
            <a:ext cx="10515600" cy="47307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Aptos" panose="020B0004020202020204" pitchFamily="34" charset="0"/>
              </a:rPr>
              <a:t>Model Comparison &amp; Final Evaluation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03B2178-7399-16E5-FE4C-46949F6FFE1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78824184"/>
              </p:ext>
            </p:extLst>
          </p:nvPr>
        </p:nvGraphicFramePr>
        <p:xfrm flipV="1">
          <a:off x="532451" y="1419484"/>
          <a:ext cx="11126149" cy="28660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72639">
                  <a:extLst>
                    <a:ext uri="{9D8B030D-6E8A-4147-A177-3AD203B41FA5}">
                      <a16:colId xmlns:a16="http://schemas.microsoft.com/office/drawing/2014/main" val="1714165827"/>
                    </a:ext>
                  </a:extLst>
                </a:gridCol>
                <a:gridCol w="2835593">
                  <a:extLst>
                    <a:ext uri="{9D8B030D-6E8A-4147-A177-3AD203B41FA5}">
                      <a16:colId xmlns:a16="http://schemas.microsoft.com/office/drawing/2014/main" val="3328739407"/>
                    </a:ext>
                  </a:extLst>
                </a:gridCol>
                <a:gridCol w="2072639">
                  <a:extLst>
                    <a:ext uri="{9D8B030D-6E8A-4147-A177-3AD203B41FA5}">
                      <a16:colId xmlns:a16="http://schemas.microsoft.com/office/drawing/2014/main" val="2674722680"/>
                    </a:ext>
                  </a:extLst>
                </a:gridCol>
                <a:gridCol w="2072639">
                  <a:extLst>
                    <a:ext uri="{9D8B030D-6E8A-4147-A177-3AD203B41FA5}">
                      <a16:colId xmlns:a16="http://schemas.microsoft.com/office/drawing/2014/main" val="1640510703"/>
                    </a:ext>
                  </a:extLst>
                </a:gridCol>
                <a:gridCol w="2072639">
                  <a:extLst>
                    <a:ext uri="{9D8B030D-6E8A-4147-A177-3AD203B41FA5}">
                      <a16:colId xmlns:a16="http://schemas.microsoft.com/office/drawing/2014/main" val="2423116909"/>
                    </a:ext>
                  </a:extLst>
                </a:gridCol>
              </a:tblGrid>
              <a:tr h="409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Model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Embedding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Test Accuracy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Test Loss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5654117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LSTM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Neural Embedding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88.94%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0.456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Compared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4374483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GRU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Neural Embedding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88.02%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0.438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Compared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584323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Aptos" panose="020B0004020202020204" pitchFamily="34" charset="0"/>
                        </a:rPr>
                        <a:t>BiLSTM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Neural Embedding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88.97%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0.436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Best verified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076119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LSTM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Fast Text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79.46%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</a:rPr>
                        <a:t>0.418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Compared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6307874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GRU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Fast Text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88.21%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0.361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Compared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5066723"/>
                  </a:ext>
                </a:extLst>
              </a:tr>
              <a:tr h="409440">
                <a:tc>
                  <a:txBody>
                    <a:bodyPr/>
                    <a:lstStyle/>
                    <a:p>
                      <a:r>
                        <a:rPr lang="en-IN" sz="2000" dirty="0" err="1">
                          <a:latin typeface="Aptos" panose="020B0004020202020204" pitchFamily="34" charset="0"/>
                        </a:rPr>
                        <a:t>BiLSTM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Fast Text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90.00%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</a:rPr>
                        <a:t>0.356</a:t>
                      </a:r>
                      <a:endParaRPr lang="en-IN" sz="2000" dirty="0">
                        <a:latin typeface="Aptos" panose="020B00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Aptos" panose="020B0004020202020204" pitchFamily="34" charset="0"/>
                        </a:rPr>
                        <a:t>Best verified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685173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EC70BB2-B1EC-B44A-08C0-F13D20BF8DFF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8D5979-1C8F-6C79-7662-C6B198FD4F74}"/>
              </a:ext>
            </a:extLst>
          </p:cNvPr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F1F41-3547-BCDE-D3D4-B0DD905FC21A}"/>
              </a:ext>
            </a:extLst>
          </p:cNvPr>
          <p:cNvSpPr txBox="1"/>
          <p:nvPr/>
        </p:nvSpPr>
        <p:spPr>
          <a:xfrm>
            <a:off x="532925" y="4582170"/>
            <a:ext cx="11126149" cy="143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DA1F2"/>
                </a:solidFill>
                <a:latin typeface="Aptos" panose="020B0004020202020204" pitchFamily="34" charset="0"/>
              </a:rPr>
              <a:t>FINAL MODEL 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ptos" panose="020B0004020202020204" pitchFamily="34" charset="0"/>
              </a:rPr>
              <a:t>Fast Text + </a:t>
            </a:r>
            <a:r>
              <a:rPr lang="en-US" sz="2000" dirty="0" err="1">
                <a:latin typeface="Aptos" panose="020B0004020202020204" pitchFamily="34" charset="0"/>
              </a:rPr>
              <a:t>BiLSTM</a:t>
            </a:r>
            <a:r>
              <a:rPr lang="en-US" sz="2000" dirty="0">
                <a:latin typeface="Aptos" panose="020B0004020202020204" pitchFamily="34" charset="0"/>
              </a:rPr>
              <a:t> — 90.08% test accuracy, 0.90 macro/weighted F1. Class-wise F1: Irrelevant 0.89, Negative 0.91, Neutral 0.91, Positive 0.90.</a:t>
            </a:r>
          </a:p>
        </p:txBody>
      </p:sp>
    </p:spTree>
    <p:extLst>
      <p:ext uri="{BB962C8B-B14F-4D97-AF65-F5344CB8AC3E}">
        <p14:creationId xmlns:p14="http://schemas.microsoft.com/office/powerpoint/2010/main" val="39100087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185FBBAF-D7C3-DA47-FD13-B39B354B7972}"/>
              </a:ext>
            </a:extLst>
          </p:cNvPr>
          <p:cNvSpPr/>
          <p:nvPr/>
        </p:nvSpPr>
        <p:spPr>
          <a:xfrm>
            <a:off x="566270" y="1119558"/>
            <a:ext cx="11059457" cy="4640825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88D80-3487-448E-8AA1-903FBA2E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119558"/>
            <a:ext cx="10364451" cy="1596177"/>
          </a:xfrm>
        </p:spPr>
        <p:txBody>
          <a:bodyPr wrap="square">
            <a:normAutofit/>
          </a:bodyPr>
          <a:lstStyle/>
          <a:p>
            <a:r>
              <a:rPr lang="en-IN" sz="4000" b="1" dirty="0">
                <a:solidFill>
                  <a:srgbClr val="0F172A"/>
                </a:solidFill>
                <a:latin typeface="Aptos Display"/>
              </a:rPr>
              <a:t>Prediction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91C2-D5DF-E04F-84B3-04BAD7311D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440695"/>
            <a:ext cx="10364451" cy="2405625"/>
          </a:xfrm>
        </p:spPr>
        <p:txBody>
          <a:bodyPr wrap="square">
            <a:normAutofit/>
          </a:bodyPr>
          <a:lstStyle/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User enters a new tweet.</a:t>
            </a:r>
          </a:p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app cleans and normalizes the text.</a:t>
            </a:r>
          </a:p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tokenizer converts the words into Token ID’s.</a:t>
            </a:r>
          </a:p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tweet is padded to the required length.</a:t>
            </a:r>
          </a:p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trained model predicts its sentiment.</a:t>
            </a:r>
          </a:p>
          <a:p>
            <a:pPr algn="l">
              <a:buFont typeface="Wingdings" panose="05000000000000000000" pitchFamily="2" charset="2"/>
              <a:buChar char="§"/>
              <a:defRPr sz="2200"/>
            </a:pPr>
            <a:r>
              <a:rPr lang="en-US" sz="2000" dirty="0">
                <a:solidFill>
                  <a:srgbClr val="161618"/>
                </a:solidFill>
                <a:latin typeface="Aptos"/>
              </a:rPr>
              <a:t>The app displays Positive, Negative, Neutral, or Irrelevant.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4594482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D926-9C3A-63C9-D2C0-7618AD089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87" y="926599"/>
            <a:ext cx="10515600" cy="1325563"/>
          </a:xfrm>
        </p:spPr>
        <p:txBody>
          <a:bodyPr wrap="square">
            <a:normAutofit/>
          </a:bodyPr>
          <a:lstStyle/>
          <a:p>
            <a:pPr algn="l"/>
            <a:r>
              <a:rPr sz="4000" b="1" dirty="0">
                <a:solidFill>
                  <a:srgbClr val="0F172A"/>
                </a:solidFill>
                <a:latin typeface="Aptos Display"/>
              </a:rPr>
              <a:t>Deployment &amp; Saved Model</a:t>
            </a:r>
            <a:endParaRPr lang="en-IN" sz="4000" b="1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3208-1512-E3D2-AD42-D8D8C49AC7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>
            <a:normAutofit/>
          </a:bodyPr>
          <a:lstStyle/>
          <a:p>
            <a:pPr marL="0" indent="0" algn="l">
              <a:buNone/>
            </a:pPr>
            <a:r>
              <a:rPr sz="1700" b="0" dirty="0">
                <a:solidFill>
                  <a:srgbClr val="161618"/>
                </a:solidFill>
                <a:latin typeface="Aptos Display"/>
              </a:rPr>
              <a:t>Saved artifacts for deployment:</a:t>
            </a:r>
            <a:endParaRPr lang="en-IN" sz="3000" dirty="0">
              <a:latin typeface="Aptos Display"/>
              <a:cs typeface="Times New Roman" panose="02020603050405020304" pitchFamily="18" charset="0"/>
            </a:endParaRP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Trained </a:t>
            </a:r>
            <a:r>
              <a:rPr sz="1700" b="0" dirty="0" err="1">
                <a:solidFill>
                  <a:srgbClr val="161618"/>
                </a:solidFill>
                <a:latin typeface="Aptos Display"/>
              </a:rPr>
              <a:t>FastText</a:t>
            </a:r>
            <a:r>
              <a:rPr sz="1700" b="0" dirty="0">
                <a:solidFill>
                  <a:srgbClr val="161618"/>
                </a:solidFill>
                <a:latin typeface="Aptos Display"/>
              </a:rPr>
              <a:t> + </a:t>
            </a:r>
            <a:r>
              <a:rPr sz="1700" b="0" dirty="0" err="1">
                <a:solidFill>
                  <a:srgbClr val="161618"/>
                </a:solidFill>
                <a:latin typeface="Aptos Display"/>
              </a:rPr>
              <a:t>BiLSTM</a:t>
            </a:r>
            <a:r>
              <a:rPr sz="1700" b="0" dirty="0">
                <a:solidFill>
                  <a:srgbClr val="161618"/>
                </a:solidFill>
                <a:latin typeface="Aptos Display"/>
              </a:rPr>
              <a:t> model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Tokenizer / vocabulary mapping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Label encoder / sentiment-class mapping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Training-time text preprocessing function</a:t>
            </a:r>
          </a:p>
          <a:p>
            <a:pPr algn="l"/>
            <a:endParaRPr sz="1700" b="0" dirty="0">
              <a:solidFill>
                <a:srgbClr val="161618"/>
              </a:solidFill>
              <a:latin typeface="Aptos Display"/>
            </a:endParaRP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Inference must reuse the same cleaning, tokenization and padding steps as training.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3B7571-3B8E-B1BA-62A2-0C7576698F8F}"/>
              </a:ext>
            </a:extLst>
          </p:cNvPr>
          <p:cNvSpPr/>
          <p:nvPr/>
        </p:nvSpPr>
        <p:spPr>
          <a:xfrm>
            <a:off x="0" y="7620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69990908-FB3F-3573-1B1E-9388C37896B2}"/>
              </a:ext>
            </a:extLst>
          </p:cNvPr>
          <p:cNvSpPr/>
          <p:nvPr/>
        </p:nvSpPr>
        <p:spPr>
          <a:xfrm>
            <a:off x="533400" y="1028700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BDEC5D2F-E668-3BB2-2A61-F25EF6898CAC}"/>
              </a:ext>
            </a:extLst>
          </p:cNvPr>
          <p:cNvSpPr txBox="1"/>
          <p:nvPr/>
        </p:nvSpPr>
        <p:spPr>
          <a:xfrm>
            <a:off x="1056640" y="2212538"/>
            <a:ext cx="777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Built an interactive app using </a:t>
            </a:r>
            <a:r>
              <a:rPr lang="en-US" dirty="0" err="1">
                <a:latin typeface="+mj-lt"/>
              </a:rPr>
              <a:t>Streamlit</a:t>
            </a:r>
            <a:r>
              <a:rPr lang="en-US" dirty="0">
                <a:latin typeface="+mj-lt"/>
              </a:rPr>
              <a:t>.</a:t>
            </a:r>
          </a:p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Deployed the app through </a:t>
            </a:r>
            <a:r>
              <a:rPr lang="en-US" dirty="0" err="1">
                <a:latin typeface="+mj-lt"/>
              </a:rPr>
              <a:t>Streamlit</a:t>
            </a:r>
            <a:r>
              <a:rPr lang="en-US" dirty="0">
                <a:latin typeface="+mj-lt"/>
              </a:rPr>
              <a:t> Community Cloud.</a:t>
            </a:r>
          </a:p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Users enter a tweet and receive a predicted sentiment.</a:t>
            </a:r>
          </a:p>
          <a:p>
            <a:pPr marL="228600" indent="-2286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Saved the trained model in </a:t>
            </a:r>
            <a:r>
              <a:rPr lang="en-US" dirty="0" err="1">
                <a:latin typeface="+mj-lt"/>
              </a:rPr>
              <a:t>Keras</a:t>
            </a:r>
            <a:r>
              <a:rPr lang="en-US" dirty="0">
                <a:latin typeface="+mj-lt"/>
              </a:rPr>
              <a:t> format.</a:t>
            </a:r>
            <a:endParaRPr lang="en-US" sz="1700" dirty="0">
              <a:solidFill>
                <a:srgbClr val="161618"/>
              </a:solidFill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8804F59-6932-BFD5-8D32-8B7E1989D21C}"/>
              </a:ext>
            </a:extLst>
          </p:cNvPr>
          <p:cNvSpPr txBox="1"/>
          <p:nvPr/>
        </p:nvSpPr>
        <p:spPr>
          <a:xfrm>
            <a:off x="1056640" y="1546600"/>
            <a:ext cx="4541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b="1" cap="all" dirty="0">
                <a:latin typeface="Aptos"/>
                <a:ea typeface="+mj-ea"/>
                <a:cs typeface="+mj-cs"/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22165768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918590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7D933-F62E-65FD-22D5-B2E65BC9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779" y="1154160"/>
            <a:ext cx="10364451" cy="1596177"/>
          </a:xfrm>
        </p:spPr>
        <p:txBody>
          <a:bodyPr wrap="square">
            <a:norm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Aptos Display"/>
              </a:rPr>
              <a:t>Conclusion</a:t>
            </a:r>
            <a:endParaRPr b="1" dirty="0">
              <a:solidFill>
                <a:srgbClr val="0F172A"/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AE340-321A-4315-AF13-FF4A1BE3E6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6779" y="2367093"/>
            <a:ext cx="10679083" cy="2597660"/>
          </a:xfrm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Developed a system to classify tweets as Positive, Negative, Neutral, or Irrelevant.</a:t>
            </a:r>
          </a:p>
          <a:p>
            <a:pPr algn="l"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Applied </a:t>
            </a:r>
            <a:r>
              <a:rPr lang="en-US" sz="2000" b="0" dirty="0" err="1">
                <a:solidFill>
                  <a:srgbClr val="161618"/>
                </a:solidFill>
                <a:latin typeface="Aptos"/>
              </a:rPr>
              <a:t>FastText</a:t>
            </a:r>
            <a:r>
              <a:rPr lang="en-US" sz="2000" b="0" dirty="0">
                <a:solidFill>
                  <a:srgbClr val="161618"/>
                </a:solidFill>
                <a:latin typeface="Aptos"/>
              </a:rPr>
              <a:t> embeddings with LSTM, </a:t>
            </a:r>
            <a:r>
              <a:rPr lang="en-US" sz="2000" b="0" dirty="0" err="1">
                <a:solidFill>
                  <a:srgbClr val="161618"/>
                </a:solidFill>
                <a:latin typeface="Aptos"/>
              </a:rPr>
              <a:t>BiLSTM</a:t>
            </a:r>
            <a:r>
              <a:rPr lang="en-US" sz="2000" b="0" dirty="0">
                <a:solidFill>
                  <a:srgbClr val="161618"/>
                </a:solidFill>
                <a:latin typeface="Aptos"/>
              </a:rPr>
              <a:t>, and GRU models.</a:t>
            </a:r>
          </a:p>
          <a:p>
            <a:pPr algn="l"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Evaluated model performance using accuracy, classification report and confusion matrices.</a:t>
            </a:r>
          </a:p>
          <a:p>
            <a:pPr algn="l"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Deployed the selected model as an interactive </a:t>
            </a:r>
            <a:r>
              <a:rPr lang="en-US" sz="2000" b="0" dirty="0" err="1">
                <a:solidFill>
                  <a:srgbClr val="161618"/>
                </a:solidFill>
                <a:latin typeface="Aptos"/>
              </a:rPr>
              <a:t>Streamlit</a:t>
            </a:r>
            <a:r>
              <a:rPr lang="en-US" sz="2000" b="0" dirty="0">
                <a:solidFill>
                  <a:srgbClr val="161618"/>
                </a:solidFill>
                <a:latin typeface="Aptos"/>
              </a:rPr>
              <a:t> app.</a:t>
            </a:r>
          </a:p>
          <a:p>
            <a:pPr algn="l">
              <a:spcAft>
                <a:spcPts val="600"/>
              </a:spcAft>
              <a:buFont typeface="Wingdings" panose="05000000000000000000" pitchFamily="2" charset="2"/>
              <a:buChar char="§"/>
              <a:defRPr sz="14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The project demonstrates how NLP can help analyze social media sentiment at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345375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825500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CB9D7-4038-4A5A-3F1A-A84EC190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728224"/>
            <a:ext cx="10364451" cy="1596177"/>
          </a:xfrm>
        </p:spPr>
        <p:txBody>
          <a:bodyPr wrap="square">
            <a:normAutofit/>
          </a:bodyPr>
          <a:lstStyle/>
          <a:p>
            <a:r>
              <a:rPr lang="en-IN" sz="4000" b="1" dirty="0">
                <a:solidFill>
                  <a:srgbClr val="0F172A"/>
                </a:solidFill>
                <a:latin typeface="Aptos Display"/>
              </a:rPr>
              <a:t>Future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6D4A-CE71-7455-1590-27A2348A3A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960243"/>
            <a:ext cx="10363826" cy="3424107"/>
          </a:xfrm>
        </p:spPr>
        <p:txBody>
          <a:bodyPr wrap="square">
            <a:normAutofit/>
          </a:bodyPr>
          <a:lstStyle/>
          <a:p>
            <a:pPr algn="l">
              <a:buFont typeface="Wingdings" panose="05000000000000000000" pitchFamily="2" charset="2"/>
              <a:buChar char="§"/>
              <a:defRPr sz="21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Test attention and Transformer models, such as BERT, against the LSTM, </a:t>
            </a:r>
            <a:r>
              <a:rPr lang="en-US" sz="2000" b="0" dirty="0" err="1">
                <a:solidFill>
                  <a:srgbClr val="161618"/>
                </a:solidFill>
                <a:latin typeface="Aptos"/>
              </a:rPr>
              <a:t>BiLSTM</a:t>
            </a:r>
            <a:r>
              <a:rPr lang="en-US" sz="2000" b="0" dirty="0">
                <a:solidFill>
                  <a:srgbClr val="161618"/>
                </a:solidFill>
                <a:latin typeface="Aptos"/>
              </a:rPr>
              <a:t>, and GRU models.</a:t>
            </a:r>
          </a:p>
          <a:p>
            <a:pPr algn="l">
              <a:buFont typeface="Wingdings" panose="05000000000000000000" pitchFamily="2" charset="2"/>
              <a:buChar char="§"/>
              <a:defRPr sz="21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Improve context understanding to handle sarcasm, slang, and ambiguous sentiment.</a:t>
            </a:r>
          </a:p>
          <a:p>
            <a:pPr algn="l">
              <a:buFont typeface="Wingdings" panose="05000000000000000000" pitchFamily="2" charset="2"/>
              <a:buChar char="§"/>
              <a:defRPr sz="21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Add confidence scores and explanations to show how certain the model is and which words influenced its prediction.</a:t>
            </a:r>
          </a:p>
          <a:p>
            <a:pPr algn="l">
              <a:buFont typeface="Wingdings" panose="05000000000000000000" pitchFamily="2" charset="2"/>
              <a:buChar char="§"/>
              <a:defRPr sz="21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Use broader, higher-quality social media data to improve performance across different topics and writing styles.</a:t>
            </a:r>
          </a:p>
          <a:p>
            <a:pPr algn="l">
              <a:buFont typeface="Wingdings" panose="05000000000000000000" pitchFamily="2" charset="2"/>
              <a:buChar char="§"/>
              <a:defRPr sz="2100"/>
            </a:pPr>
            <a:r>
              <a:rPr lang="en-US" sz="2000" b="0" dirty="0">
                <a:solidFill>
                  <a:srgbClr val="161618"/>
                </a:solidFill>
                <a:latin typeface="Aptos"/>
              </a:rPr>
              <a:t>Explore real-time analysis through a live application or API.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733302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EC2A4-6B91-D975-8A20-C46C8571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15444-CFFA-2C30-F3E0-C73DD0C3D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887" y="926599"/>
            <a:ext cx="10515600" cy="1325563"/>
          </a:xfrm>
        </p:spPr>
        <p:txBody>
          <a:bodyPr wrap="square">
            <a:normAutofit/>
          </a:bodyPr>
          <a:lstStyle/>
          <a:p>
            <a:pPr algn="l"/>
            <a:r>
              <a:rPr sz="4000" b="1" dirty="0">
                <a:solidFill>
                  <a:srgbClr val="0F172A"/>
                </a:solidFill>
                <a:latin typeface="Aptos Display"/>
              </a:rPr>
              <a:t>Deployment &amp; Saved Model</a:t>
            </a:r>
            <a:endParaRPr lang="en-IN" sz="4000" b="1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D5B7-BCE0-19D9-1C5E-C45973596A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wrap="square">
            <a:normAutofit/>
          </a:bodyPr>
          <a:lstStyle/>
          <a:p>
            <a:pPr marL="0" indent="0" algn="l">
              <a:buNone/>
            </a:pPr>
            <a:r>
              <a:rPr sz="1700" b="0" dirty="0">
                <a:solidFill>
                  <a:srgbClr val="161618"/>
                </a:solidFill>
                <a:latin typeface="Aptos Display"/>
              </a:rPr>
              <a:t>Saved artifacts for deployment:</a:t>
            </a:r>
            <a:endParaRPr lang="en-IN" sz="3000" dirty="0">
              <a:latin typeface="Aptos Display"/>
              <a:cs typeface="Times New Roman" panose="02020603050405020304" pitchFamily="18" charset="0"/>
            </a:endParaRP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Trained </a:t>
            </a:r>
            <a:r>
              <a:rPr sz="1700" b="0" dirty="0" err="1">
                <a:solidFill>
                  <a:srgbClr val="161618"/>
                </a:solidFill>
                <a:latin typeface="Aptos Display"/>
              </a:rPr>
              <a:t>FastText</a:t>
            </a:r>
            <a:r>
              <a:rPr sz="1700" b="0" dirty="0">
                <a:solidFill>
                  <a:srgbClr val="161618"/>
                </a:solidFill>
                <a:latin typeface="Aptos Display"/>
              </a:rPr>
              <a:t> + </a:t>
            </a:r>
            <a:r>
              <a:rPr sz="1700" b="0" dirty="0" err="1">
                <a:solidFill>
                  <a:srgbClr val="161618"/>
                </a:solidFill>
                <a:latin typeface="Aptos Display"/>
              </a:rPr>
              <a:t>BiLSTM</a:t>
            </a:r>
            <a:r>
              <a:rPr sz="1700" b="0" dirty="0">
                <a:solidFill>
                  <a:srgbClr val="161618"/>
                </a:solidFill>
                <a:latin typeface="Aptos Display"/>
              </a:rPr>
              <a:t> model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Tokenizer / vocabulary mapping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Label encoder / sentiment-class mapping</a:t>
            </a: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• Training-time text preprocessing function</a:t>
            </a:r>
          </a:p>
          <a:p>
            <a:pPr algn="l"/>
            <a:endParaRPr sz="1700" b="0" dirty="0">
              <a:solidFill>
                <a:srgbClr val="161618"/>
              </a:solidFill>
              <a:latin typeface="Aptos Display"/>
            </a:endParaRPr>
          </a:p>
          <a:p>
            <a:pPr algn="l"/>
            <a:r>
              <a:rPr sz="1700" b="0" dirty="0">
                <a:solidFill>
                  <a:srgbClr val="161618"/>
                </a:solidFill>
                <a:latin typeface="Aptos Display"/>
              </a:rPr>
              <a:t>Inference must reuse the same cleaning, tokenization and padding steps as training.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DA07D-598C-042A-6F88-8727D5F48C82}"/>
              </a:ext>
            </a:extLst>
          </p:cNvPr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7B6424-3BA9-763F-AE13-FBE390B78E0C}"/>
              </a:ext>
            </a:extLst>
          </p:cNvPr>
          <p:cNvSpPr/>
          <p:nvPr/>
        </p:nvSpPr>
        <p:spPr>
          <a:xfrm>
            <a:off x="11658600" y="177800"/>
            <a:ext cx="228600" cy="228600"/>
          </a:xfrm>
          <a:prstGeom prst="ellipse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CACAD-DEFB-0502-C53A-8E6698D8A318}"/>
              </a:ext>
            </a:extLst>
          </p:cNvPr>
          <p:cNvSpPr/>
          <p:nvPr/>
        </p:nvSpPr>
        <p:spPr>
          <a:xfrm>
            <a:off x="0" y="76200"/>
            <a:ext cx="12192000" cy="88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CF8DE9DF-4705-6B77-6942-05EA1DF26C28}"/>
              </a:ext>
            </a:extLst>
          </p:cNvPr>
          <p:cNvSpPr/>
          <p:nvPr/>
        </p:nvSpPr>
        <p:spPr>
          <a:xfrm>
            <a:off x="533400" y="1007880"/>
            <a:ext cx="11125200" cy="4953000"/>
          </a:xfrm>
          <a:prstGeom prst="roundRect">
            <a:avLst/>
          </a:prstGeom>
          <a:solidFill>
            <a:srgbClr val="EFF8FF"/>
          </a:solidFill>
          <a:ln>
            <a:solidFill>
              <a:srgbClr val="CBE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b="1" dirty="0">
              <a:solidFill>
                <a:schemeClr val="tx1"/>
              </a:solidFill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068D4D9F-204C-E8FD-0429-68F651290D0E}"/>
              </a:ext>
            </a:extLst>
          </p:cNvPr>
          <p:cNvSpPr txBox="1"/>
          <p:nvPr/>
        </p:nvSpPr>
        <p:spPr>
          <a:xfrm>
            <a:off x="3804607" y="3013661"/>
            <a:ext cx="4582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b="1" cap="all" dirty="0">
                <a:latin typeface="Aptos"/>
                <a:ea typeface="+mj-ea"/>
                <a:cs typeface="+mj-cs"/>
                <a:hlinkClick r:id="rId2"/>
              </a:rPr>
              <a:t>Deployment link</a:t>
            </a:r>
            <a:endParaRPr lang="en-IN" sz="4000" b="1" cap="all" dirty="0">
              <a:latin typeface="Aptos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323413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enorite"/>
        <a:ea typeface=""/>
        <a:cs typeface=""/>
      </a:majorFont>
      <a:minorFont>
        <a:latin typeface="Bahnschrift Light Semi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6</Template>
  <TotalTime>594</TotalTime>
  <Words>754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Bahnschrift Light SemiCondensed</vt:lpstr>
      <vt:lpstr>Bahnschrift SemiCondensed</vt:lpstr>
      <vt:lpstr>Tenorite</vt:lpstr>
      <vt:lpstr>Wingdings</vt:lpstr>
      <vt:lpstr>Custom</vt:lpstr>
      <vt:lpstr>Tweet Sentiment Analysis Using  Deep Learning</vt:lpstr>
      <vt:lpstr>Problem Statement</vt:lpstr>
      <vt:lpstr>Data Insights</vt:lpstr>
      <vt:lpstr>Exploratory Data Analysis (EDA)</vt:lpstr>
      <vt:lpstr>Text Preprocessing Pipeline</vt:lpstr>
      <vt:lpstr>Deep Learning Model &amp; Embedding</vt:lpstr>
      <vt:lpstr>Model Comparison &amp; Final Evaluation</vt:lpstr>
      <vt:lpstr>Prediction Workflow</vt:lpstr>
      <vt:lpstr>Deployment &amp; Saved Model</vt:lpstr>
      <vt:lpstr>Conclusion</vt:lpstr>
      <vt:lpstr>Future Expansion</vt:lpstr>
      <vt:lpstr>Deployment &amp; Saved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Kishore</dc:creator>
  <cp:lastModifiedBy>devendra naidu</cp:lastModifiedBy>
  <cp:revision>35</cp:revision>
  <dcterms:created xsi:type="dcterms:W3CDTF">2026-09-27T04:57:41Z</dcterms:created>
  <dcterms:modified xsi:type="dcterms:W3CDTF">2026-10-07T11:45:48Z</dcterms:modified>
</cp:coreProperties>
</file>